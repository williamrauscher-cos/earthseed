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22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127E81-6D5A-6EE6-FA94-7A7E15789D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019425" y="49276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4754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COSIMA STUDIO — SPECULATIVE DESIGN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804672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kern="0" spc="-2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</a:t>
            </a:r>
            <a:r>
              <a:rPr lang="en-US" sz="8800" kern="0" spc="-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r>
              <a:rPr lang="en-US" sz="8800" kern="0" spc="-2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md</a:t>
            </a:r>
            <a:endParaRPr lang="en-US" sz="8800" dirty="0"/>
          </a:p>
        </p:txBody>
      </p:sp>
      <p:sp>
        <p:nvSpPr>
          <p:cNvPr id="5" name="Shape 2"/>
          <p:cNvSpPr/>
          <p:nvPr/>
        </p:nvSpPr>
        <p:spPr>
          <a:xfrm>
            <a:off x="502920" y="2907792"/>
            <a:ext cx="640080" cy="25603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816352"/>
            <a:ext cx="7569200" cy="1262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operating system for new communities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SOURCE 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“God is Change—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God.”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9120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Parable of the Sower</a:t>
            </a:r>
            <a:r>
              <a:rPr lang="en-US" sz="1200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Octavia Butler, 1993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457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PROPOSITION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193178" cy="334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Earthseed is a </a:t>
            </a:r>
            <a:r>
              <a:rPr lang="en-US" sz="1400" i="1" dirty="0">
                <a:solidFill>
                  <a:srgbClr val="C8A96E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latent operating system</a:t>
            </a:r>
            <a:r>
              <a:rPr lang="en-US" sz="1400" dirty="0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embedded inside a novel—Parable of the Sower, Octavia Butler’s 1993 </a:t>
            </a:r>
            <a:r>
              <a:rPr lang="en-US" sz="1400" dirty="0">
                <a:solidFill>
                  <a:schemeClr val="bg1"/>
                </a:solidFill>
                <a:latin typeface="Georgia" panose="02040502050405020303" pitchFamily="18" charset="0"/>
                <a:ea typeface="Helvetica Neue" pitchFamily="34" charset="-122"/>
                <a:cs typeface="Helvetica Neue" pitchFamily="34" charset="-120"/>
              </a:rPr>
              <a:t>near-future saga: America collapsing, a visionary teenager building a new religious community from first principles. 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Earthseed.md</a:t>
            </a:r>
            <a:r>
              <a:rPr lang="en-US" sz="1400" dirty="0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extracts the behaviors and principles of the novel’s religion and community to create an operating system anyone can use to build and practice an </a:t>
            </a:r>
            <a:r>
              <a:rPr lang="en-US" sz="1400" dirty="0" err="1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Earthseed</a:t>
            </a:r>
            <a:r>
              <a:rPr lang="en-US" sz="1400" dirty="0">
                <a:solidFill>
                  <a:srgbClr val="F5F4F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 community IRL</a:t>
            </a:r>
            <a:r>
              <a:rPr lang="en-US" sz="1400" dirty="0">
                <a:solidFill>
                  <a:srgbClr val="F5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SPECULATIVE DESIGN / SPECULATIVE MARKDOWN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874000" cy="1445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ways of looking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54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</a:t>
            </a:r>
            <a:r>
              <a:rPr lang="en-US" sz="5400" kern="0" spc="-150" dirty="0" err="1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2395728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ANALYTICAL FICTION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5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reading a novel as if it were a design brief. Extract what the world-builder encoded.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18688" y="2441448"/>
            <a:ext cx="6401" cy="26060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INSTRUCTION MANUAL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944368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5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a structured .md that governs how Earthseed communities organize, decide, and grow.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53328" y="2441448"/>
            <a:ext cx="6401" cy="26060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LIVING REPOSITORY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2944368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5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GitHub-hosted, fork-ready. The .md is open software. Anyone can build from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ANALOG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749040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kern="0" spc="-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 LeWitt’s art practice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16352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66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LeWitt’s wall drawing instructions, </a:t>
            </a:r>
            <a:r>
              <a:rPr lang="en-US" sz="1500" dirty="0" err="1">
                <a:solidFill>
                  <a:srgbClr val="66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Earthseed.md</a:t>
            </a:r>
            <a:r>
              <a:rPr lang="en-US" sz="1500" dirty="0">
                <a:solidFill>
                  <a:srgbClr val="66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doesn’t </a:t>
            </a:r>
            <a:r>
              <a:rPr lang="en-US" sz="1500" i="1" dirty="0">
                <a:solidFill>
                  <a:srgbClr val="66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guarantee identical outcomes.</a:t>
            </a:r>
            <a:r>
              <a:rPr lang="en-US" sz="1500" dirty="0">
                <a:solidFill>
                  <a:srgbClr val="6666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governs consistency. Different hands, different sites, different communities—the same underlying logic, expressed differently in each place.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37760" y="457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7772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8000"/>
              </a:lnSpc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 LeWitt (1928–2007) was a conceptual artist who wrote instructions for wall drawings he never personally executed. Anyone could make them. Every version was different. Every version was his.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2084832"/>
            <a:ext cx="45720" cy="109728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Wall Drawing #46, 1970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F5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“Vertical lines, not straight, not touching, covering the wall evenly.”
</a:t>
            </a:r>
            <a:r>
              <a:rPr lang="en-US" sz="1200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instruction is the work. The execution is plural.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3246120"/>
            <a:ext cx="45720" cy="1188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Earthseed.md, §Community,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34564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F5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“Consensus is not unanimity—it is the absence of unresolved objection.”
</a:t>
            </a:r>
            <a:r>
              <a:rPr lang="en-US" sz="1200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instruction is the design. The community is plural.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</a:t>
            </a:r>
            <a:r>
              <a:rPr lang="en-US" sz="4800" kern="0" spc="-150" dirty="0" err="1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</a:t>
            </a:r>
            <a:r>
              <a:rPr lang="en-US" sz="48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lives</a:t>
            </a:r>
            <a:endParaRPr lang="en-US" sz="4800" dirty="0"/>
          </a:p>
          <a:p>
            <a:pPr marL="0" indent="0">
              <a:buNone/>
            </a:pPr>
            <a:r>
              <a:rPr lang="en-US" sz="48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world of ideas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35059" y="2564435"/>
            <a:ext cx="8229600" cy="7315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5059" y="269245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— ANCESTOR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5059" y="2966771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Whole Earth Catalog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5059" y="3661715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“Access to tools.” The WEC believed information was infrastructure. So do we.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9891" y="269245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— FORMAT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19891" y="2966771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/ Open Source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19891" y="3661715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Ethico-political governance through code. The fork is a political act.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4723" y="269245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— PRACTICE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4723" y="2966771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Speculative Design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4723" y="3661715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as a method of thinking, not just making. The .md is a proposal, not a product.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89555" y="269245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— GESTURE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89555" y="2966771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Fan Fiction as Design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89555" y="3661715"/>
            <a:ext cx="1920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design.md as an act of love toward a text — and a serious analytical claim about what it contains.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text to tool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65667" y="2125980"/>
            <a:ext cx="594360" cy="594360"/>
          </a:xfrm>
          <a:prstGeom prst="rect">
            <a:avLst/>
          </a:prstGeom>
          <a:solidFill>
            <a:srgbClr val="201808"/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5667" y="21259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87459" y="2414016"/>
            <a:ext cx="1005840" cy="7315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56723" y="23545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8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5667" y="28575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novel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5667" y="3342132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Parable of the Sower + Talents. Close analytical reading.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07408"/>
            <a:ext cx="1517904" cy="256032"/>
          </a:xfrm>
          <a:prstGeom prst="rect">
            <a:avLst/>
          </a:prstGeom>
          <a:solidFill>
            <a:srgbClr val="160F04"/>
          </a:solidFill>
          <a:ln w="12700">
            <a:solidFill>
              <a:srgbClr val="3A2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42569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 MATERIAL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39019" y="2125980"/>
            <a:ext cx="59436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9019" y="21259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60811" y="2414016"/>
            <a:ext cx="1005840" cy="7315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0075" y="23545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8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39019" y="28575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 the 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39019" y="3342132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operating rules: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ritual, spatial logic.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30552" y="4407408"/>
            <a:ext cx="1517904" cy="256032"/>
          </a:xfrm>
          <a:prstGeom prst="rect">
            <a:avLst/>
          </a:prstGeom>
          <a:solidFill>
            <a:srgbClr val="160F04"/>
          </a:solidFill>
          <a:ln w="12700">
            <a:solidFill>
              <a:srgbClr val="3A2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21992" y="442569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ANALYTICAL FICTION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12371" y="2125980"/>
            <a:ext cx="59436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12371" y="21259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163" y="2414016"/>
            <a:ext cx="1005840" cy="7315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03427" y="23545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8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12371" y="28575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the .md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12371" y="3342132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Markdown.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Version-controlled from day 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03904" y="4407408"/>
            <a:ext cx="1517904" cy="256032"/>
          </a:xfrm>
          <a:prstGeom prst="rect">
            <a:avLst/>
          </a:prstGeom>
          <a:solidFill>
            <a:srgbClr val="160F04"/>
          </a:solidFill>
          <a:ln w="12700">
            <a:solidFill>
              <a:srgbClr val="3A2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95344" y="442569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SPECULATIVE MARKDOWN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5723" y="2125980"/>
            <a:ext cx="59436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5723" y="21259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07515" y="2414016"/>
            <a:ext cx="1005840" cy="7315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76779" y="23545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8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5723" y="28575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+ fork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59075" y="3332988"/>
            <a:ext cx="1627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 — spatial, digital,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— that instantiate it.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77256" y="4407408"/>
            <a:ext cx="1517904" cy="256032"/>
          </a:xfrm>
          <a:prstGeom prst="rect">
            <a:avLst/>
          </a:prstGeom>
          <a:solidFill>
            <a:srgbClr val="160F04"/>
          </a:solidFill>
          <a:ln w="12700">
            <a:solidFill>
              <a:srgbClr val="3A2E1A"/>
            </a:solidFill>
            <a:prstDash val="solid"/>
          </a:ln>
        </p:spPr>
        <p:txBody>
          <a:bodyPr/>
          <a:lstStyle/>
          <a:p>
            <a:r>
              <a:rPr lang="en-US" dirty="0"/>
              <a:t>is</a:t>
            </a:r>
          </a:p>
        </p:txBody>
      </p:sp>
      <p:sp>
        <p:nvSpPr>
          <p:cNvPr id="35" name="Text 33"/>
          <p:cNvSpPr/>
          <p:nvPr/>
        </p:nvSpPr>
        <p:spPr>
          <a:xfrm>
            <a:off x="5568696" y="442569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DISSEMINATION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59075" y="2125980"/>
            <a:ext cx="594360" cy="59436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59075" y="21259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59075" y="28575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from it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5723" y="3342132"/>
            <a:ext cx="1409192" cy="92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Released on GitHub.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may read, adapt, implement.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50608" y="4407408"/>
            <a:ext cx="1517904" cy="256032"/>
          </a:xfrm>
          <a:prstGeom prst="rect">
            <a:avLst/>
          </a:prstGeom>
          <a:solidFill>
            <a:srgbClr val="160F04"/>
          </a:solidFill>
          <a:ln w="12700">
            <a:solidFill>
              <a:srgbClr val="3A2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42048" y="442569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FROM 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03881"/>
            <a:ext cx="8778240" cy="23799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.MD CONTAINS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99439"/>
            <a:ext cx="5207000" cy="102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kern="0" spc="-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Operating System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kern="0" spc="-100" dirty="0">
                <a:solidFill>
                  <a:srgbClr val="0A0A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New Communities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926309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3383280" cy="201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Doctrine</a:t>
            </a:r>
          </a:p>
          <a:p>
            <a:r>
              <a:rPr lang="en-US" sz="28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Structure</a:t>
            </a:r>
          </a:p>
          <a:p>
            <a:r>
              <a:rPr lang="en-US" sz="28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Principles</a:t>
            </a:r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286000" y="385876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3318850"/>
            <a:ext cx="3749040" cy="1105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Ritual &amp; Ceremony</a:t>
            </a:r>
          </a:p>
          <a:p>
            <a:r>
              <a:rPr lang="en-US" sz="2600" kern="0" spc="-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Economics &amp; Survival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74920" y="41148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EXPLORATIONS — EXAMPLES OF POSSIBLE 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kern="0" spc="-1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.md in use.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instruction set. Different hands. Different worlds.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20240" cy="2999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36576"/>
          </a:xfrm>
          <a:prstGeom prst="rect">
            <a:avLst/>
          </a:prstGeom>
          <a:solidFill>
            <a:srgbClr val="C8A96E">
              <a:alpha val="60000"/>
            </a:srgbClr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084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23408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 Identity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" y="305409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identity for a chapter—mark, palette, typography—grown from the doctrine.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4709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42032" y="1920240"/>
            <a:ext cx="1920240" cy="2999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42032" y="1920240"/>
            <a:ext cx="1920240" cy="36576"/>
          </a:xfrm>
          <a:prstGeom prst="rect">
            <a:avLst/>
          </a:prstGeom>
          <a:solidFill>
            <a:srgbClr val="C8A96E">
              <a:alpha val="60000"/>
            </a:srgbClr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06624" y="2084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06624" y="23408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Membership Document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06624" y="305409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Rights, responsibilities, and naming ceremony. Printed. Held in the hand.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06624" y="4709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DESIGN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1920240" cy="2999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920240"/>
            <a:ext cx="1920240" cy="36576"/>
          </a:xfrm>
          <a:prstGeom prst="rect">
            <a:avLst/>
          </a:prstGeom>
          <a:solidFill>
            <a:srgbClr val="C8A96E">
              <a:alpha val="60000"/>
            </a:srgbClr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2084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91456" y="23408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Spatial Plan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91456" y="305409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diagrams drawn from the novel’s descriptions of Acorn. A place you could build.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4709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SPECULATION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11696" y="1920240"/>
            <a:ext cx="1920240" cy="29992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11696" y="1920240"/>
            <a:ext cx="1920240" cy="36576"/>
          </a:xfrm>
          <a:prstGeom prst="rect">
            <a:avLst/>
          </a:prstGeom>
          <a:solidFill>
            <a:srgbClr val="C8A96E">
              <a:alpha val="60000"/>
            </a:srgbClr>
          </a:solidFill>
          <a:ln w="12700">
            <a:solidFill>
              <a:srgbClr val="C8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76288" y="2084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 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6288" y="23408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Gathering Ritual Deck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76288" y="3054096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card system for running Gathering—Butler’s ceremony, made usable.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76288" y="4709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3A302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FACILITATION DESIGN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444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POTENTIAL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32103"/>
            <a:ext cx="3674533" cy="370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2400" i="1" dirty="0">
                <a:solidFill>
                  <a:srgbClr val="6A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seed—the DNA of </a:t>
            </a:r>
            <a:r>
              <a:rPr lang="en-US" sz="2400" i="1" dirty="0" err="1">
                <a:solidFill>
                  <a:srgbClr val="6A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Earthseed.md</a:t>
            </a:r>
            <a:r>
              <a:rPr lang="en-US" sz="2400" i="1" dirty="0">
                <a:solidFill>
                  <a:srgbClr val="6A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fixed, but the growth is contingent. Every community that runs this .md will be recognisably Earthseed, and entirely its own.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37760" y="457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200" kern="0" spc="-20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.md.
Infinite
</a:t>
            </a:r>
            <a:r>
              <a:rPr lang="en-US" sz="6200" kern="0" spc="-2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chapters.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— COSIMA Studio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520" y="-18288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9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COSIMA STUDIO — 2025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0" kern="0" spc="-2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Disseminate</a:t>
            </a:r>
            <a:endParaRPr lang="en-US" sz="8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0" kern="0" spc="-250" dirty="0">
                <a:solidFill>
                  <a:srgbClr val="F5F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seed.</a:t>
            </a:r>
            <a:endParaRPr lang="en-US" sz="8600" dirty="0"/>
          </a:p>
        </p:txBody>
      </p:sp>
      <p:sp>
        <p:nvSpPr>
          <p:cNvPr id="5" name="Text 2"/>
          <p:cNvSpPr/>
          <p:nvPr/>
        </p:nvSpPr>
        <p:spPr>
          <a:xfrm>
            <a:off x="457199" y="3566160"/>
            <a:ext cx="83904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Earthseed’s destiny is the stars — but first, it needs to take root on Earth.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7A7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.md is how it spreads.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333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earthseed.md  —  GitHub  —  COSIMA Studio  —  Open Format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843</Words>
  <Application>Microsoft Macintosh PowerPoint</Application>
  <PresentationFormat>On-screen Show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Georgia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Earthseed.md</dc:title>
  <dc:subject>PptxGenJS Presentation</dc:subject>
  <dc:creator>COSIMA Studio</dc:creator>
  <cp:lastModifiedBy>William Rauscher (Omnicom)</cp:lastModifiedBy>
  <cp:revision>3</cp:revision>
  <dcterms:created xsi:type="dcterms:W3CDTF">2026-05-05T02:30:31Z</dcterms:created>
  <dcterms:modified xsi:type="dcterms:W3CDTF">2026-05-05T13:36:25Z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2026-05-05T13:31:08Z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9ed46814-6fd0-462d-8870-1f85a2d236ab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Confidential - Not for Public Consumption or Distribution</vt:lpwstr>
  </property>
</Properties>
</file>